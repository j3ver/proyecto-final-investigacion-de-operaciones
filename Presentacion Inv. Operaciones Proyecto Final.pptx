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73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707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058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0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442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961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828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134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838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852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48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CBC2BE5-74D9-43C9-8EC3-22D396CC298A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4777071-48C1-4E63-8D7D-4E4A0A8F18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3341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6B99A58-643C-8C55-B287-5ACBB6DD19A8}"/>
              </a:ext>
            </a:extLst>
          </p:cNvPr>
          <p:cNvSpPr txBox="1"/>
          <p:nvPr/>
        </p:nvSpPr>
        <p:spPr>
          <a:xfrm>
            <a:off x="1660328" y="1398120"/>
            <a:ext cx="88713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Optimización de Operaciones en </a:t>
            </a:r>
            <a:br>
              <a:rPr lang="es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s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GuateResponde</a:t>
            </a:r>
            <a:r>
              <a:rPr lang="es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s-E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80EFB4-9A7C-D078-82CF-A28A04BFAA4F}"/>
              </a:ext>
            </a:extLst>
          </p:cNvPr>
          <p:cNvSpPr txBox="1"/>
          <p:nvPr/>
        </p:nvSpPr>
        <p:spPr>
          <a:xfrm>
            <a:off x="1327355" y="3780028"/>
            <a:ext cx="8981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Aplicación de Teoría de Colas (Modelo M/M/c) para la Optimización de Recursos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9F2859-3B3C-26DC-D3F0-0D966D25CA6D}"/>
              </a:ext>
            </a:extLst>
          </p:cNvPr>
          <p:cNvSpPr txBox="1"/>
          <p:nvPr/>
        </p:nvSpPr>
        <p:spPr>
          <a:xfrm>
            <a:off x="4859474" y="5152103"/>
            <a:ext cx="24730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Investigación de Operaciones</a:t>
            </a:r>
          </a:p>
        </p:txBody>
      </p:sp>
    </p:spTree>
    <p:extLst>
      <p:ext uri="{BB962C8B-B14F-4D97-AF65-F5344CB8AC3E}">
        <p14:creationId xmlns:p14="http://schemas.microsoft.com/office/powerpoint/2010/main" val="3143398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581F1-4343-1047-1761-F0334053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992"/>
            <a:ext cx="10515600" cy="1325563"/>
          </a:xfrm>
        </p:spPr>
        <p:txBody>
          <a:bodyPr>
            <a:normAutofit/>
          </a:bodyPr>
          <a:lstStyle/>
          <a:p>
            <a:r>
              <a:rPr lang="es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INTEGRANTES DEL EQUIPO</a:t>
            </a:r>
            <a:endParaRPr lang="es-E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FE84E9-0257-8AB8-4775-541633968EC7}"/>
              </a:ext>
            </a:extLst>
          </p:cNvPr>
          <p:cNvSpPr/>
          <p:nvPr/>
        </p:nvSpPr>
        <p:spPr>
          <a:xfrm>
            <a:off x="1032387" y="2389239"/>
            <a:ext cx="3116826" cy="28808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Gráfico 7" descr="Usuario con relleno sólido">
            <a:extLst>
              <a:ext uri="{FF2B5EF4-FFF2-40B4-BE49-F238E27FC236}">
                <a16:creationId xmlns:a16="http://schemas.microsoft.com/office/drawing/2014/main" id="{AF89E91C-A03A-3C16-7231-7804AEE77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8187" y="2426110"/>
            <a:ext cx="914400" cy="914400"/>
          </a:xfrm>
          <a:prstGeom prst="rect">
            <a:avLst/>
          </a:prstGeom>
        </p:spPr>
      </p:pic>
      <p:pic>
        <p:nvPicPr>
          <p:cNvPr id="9" name="Gráfico 8" descr="Usuario con relleno sólido">
            <a:extLst>
              <a:ext uri="{FF2B5EF4-FFF2-40B4-BE49-F238E27FC236}">
                <a16:creationId xmlns:a16="http://schemas.microsoft.com/office/drawing/2014/main" id="{FE518971-BB2F-E631-B37E-DBC4BA459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2426110"/>
            <a:ext cx="914400" cy="914400"/>
          </a:xfrm>
          <a:prstGeom prst="rect">
            <a:avLst/>
          </a:prstGeom>
        </p:spPr>
      </p:pic>
      <p:pic>
        <p:nvPicPr>
          <p:cNvPr id="10" name="Gráfico 9" descr="Usuario con relleno sólido">
            <a:extLst>
              <a:ext uri="{FF2B5EF4-FFF2-40B4-BE49-F238E27FC236}">
                <a16:creationId xmlns:a16="http://schemas.microsoft.com/office/drawing/2014/main" id="{F9B9A155-5AA9-CED8-7994-8B84B427B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5893" y="2426110"/>
            <a:ext cx="914400" cy="914400"/>
          </a:xfrm>
          <a:prstGeom prst="rect">
            <a:avLst/>
          </a:prstGeom>
        </p:spPr>
      </p:pic>
      <p:pic>
        <p:nvPicPr>
          <p:cNvPr id="12" name="Gráfico 11" descr="Engranaje único con relleno sólido">
            <a:extLst>
              <a:ext uri="{FF2B5EF4-FFF2-40B4-BE49-F238E27FC236}">
                <a16:creationId xmlns:a16="http://schemas.microsoft.com/office/drawing/2014/main" id="{B5B860DC-7C56-D64B-B237-E8A4A3AB2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4477" y="2756408"/>
            <a:ext cx="555063" cy="555063"/>
          </a:xfrm>
          <a:prstGeom prst="rect">
            <a:avLst/>
          </a:prstGeom>
        </p:spPr>
      </p:pic>
      <p:pic>
        <p:nvPicPr>
          <p:cNvPr id="13" name="Gráfico 12" descr="Engranaje único con relleno sólido">
            <a:extLst>
              <a:ext uri="{FF2B5EF4-FFF2-40B4-BE49-F238E27FC236}">
                <a16:creationId xmlns:a16="http://schemas.microsoft.com/office/drawing/2014/main" id="{9795DE89-C8CC-CFD3-DFD5-2DE408C31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5387" y="2732055"/>
            <a:ext cx="555063" cy="555063"/>
          </a:xfrm>
          <a:prstGeom prst="rect">
            <a:avLst/>
          </a:prstGeom>
        </p:spPr>
      </p:pic>
      <p:pic>
        <p:nvPicPr>
          <p:cNvPr id="14" name="Gráfico 13" descr="Engranaje único con relleno sólido">
            <a:extLst>
              <a:ext uri="{FF2B5EF4-FFF2-40B4-BE49-F238E27FC236}">
                <a16:creationId xmlns:a16="http://schemas.microsoft.com/office/drawing/2014/main" id="{79E76A38-AA4B-485C-A3AE-DFABC854A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1767" y="2732056"/>
            <a:ext cx="555063" cy="555063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00F5130-6174-1991-3178-7835CDDAE6C9}"/>
              </a:ext>
            </a:extLst>
          </p:cNvPr>
          <p:cNvSpPr txBox="1"/>
          <p:nvPr/>
        </p:nvSpPr>
        <p:spPr>
          <a:xfrm>
            <a:off x="969843" y="3780442"/>
            <a:ext cx="32419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dirty="0" err="1"/>
              <a:t>Benkis</a:t>
            </a:r>
            <a:r>
              <a:rPr lang="es-US" dirty="0"/>
              <a:t> Eduardo Sosa Mata</a:t>
            </a:r>
            <a:br>
              <a:rPr lang="es-US" dirty="0"/>
            </a:br>
            <a:br>
              <a:rPr lang="es-US" dirty="0"/>
            </a:br>
            <a:r>
              <a:rPr lang="es-US" dirty="0"/>
              <a:t>7691 – 19 – 1711</a:t>
            </a:r>
            <a:br>
              <a:rPr lang="es-US" dirty="0"/>
            </a:br>
            <a:br>
              <a:rPr lang="es-US" dirty="0"/>
            </a:br>
            <a:r>
              <a:rPr lang="es-US" dirty="0"/>
              <a:t>100% De participación y apoyo</a:t>
            </a:r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A542797-D265-1D3F-6C21-E4545EF7C835}"/>
              </a:ext>
            </a:extLst>
          </p:cNvPr>
          <p:cNvSpPr txBox="1"/>
          <p:nvPr/>
        </p:nvSpPr>
        <p:spPr>
          <a:xfrm>
            <a:off x="8232128" y="3792763"/>
            <a:ext cx="32419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dirty="0"/>
              <a:t>Jever Jafet Gómez </a:t>
            </a:r>
            <a:r>
              <a:rPr lang="es-US" dirty="0" err="1"/>
              <a:t>Solis</a:t>
            </a:r>
            <a:endParaRPr lang="es-US" dirty="0"/>
          </a:p>
          <a:p>
            <a:pPr algn="ctr"/>
            <a:endParaRPr lang="es-US" dirty="0"/>
          </a:p>
          <a:p>
            <a:pPr algn="ctr"/>
            <a:r>
              <a:rPr lang="es-US" dirty="0"/>
              <a:t>7691 – 23 – 1575</a:t>
            </a:r>
            <a:br>
              <a:rPr lang="es-US" dirty="0"/>
            </a:br>
            <a:br>
              <a:rPr lang="es-US" dirty="0"/>
            </a:br>
            <a:r>
              <a:rPr lang="es-US" dirty="0"/>
              <a:t>100% De participación y apoyo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CD637C7-7813-7871-16A7-64EEDA5F3744}"/>
              </a:ext>
            </a:extLst>
          </p:cNvPr>
          <p:cNvSpPr txBox="1"/>
          <p:nvPr/>
        </p:nvSpPr>
        <p:spPr>
          <a:xfrm>
            <a:off x="4586011" y="3792763"/>
            <a:ext cx="32569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US" dirty="0"/>
              <a:t>Bryan Daniel Echeverría Pérez</a:t>
            </a:r>
          </a:p>
          <a:p>
            <a:endParaRPr lang="es-US" dirty="0"/>
          </a:p>
          <a:p>
            <a:pPr algn="ctr"/>
            <a:r>
              <a:rPr lang="es-US" dirty="0"/>
              <a:t>7691 – 23 – 8227</a:t>
            </a:r>
          </a:p>
          <a:p>
            <a:pPr algn="ctr"/>
            <a:br>
              <a:rPr lang="es-US" dirty="0"/>
            </a:br>
            <a:r>
              <a:rPr lang="es-US" dirty="0"/>
              <a:t>100% De participación y apoyo</a:t>
            </a:r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FB9B27-9458-7F54-AA08-881F49192FE5}"/>
              </a:ext>
            </a:extLst>
          </p:cNvPr>
          <p:cNvSpPr/>
          <p:nvPr/>
        </p:nvSpPr>
        <p:spPr>
          <a:xfrm>
            <a:off x="4656089" y="2389239"/>
            <a:ext cx="3116826" cy="28808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E9298AB-92FD-AEBA-AC89-79D0FBDDC2EA}"/>
              </a:ext>
            </a:extLst>
          </p:cNvPr>
          <p:cNvSpPr/>
          <p:nvPr/>
        </p:nvSpPr>
        <p:spPr>
          <a:xfrm>
            <a:off x="8294672" y="2394155"/>
            <a:ext cx="3116826" cy="28808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08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AB6AF-7AC8-064E-FD77-3FFAA53D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516" y="365125"/>
            <a:ext cx="10232923" cy="964911"/>
          </a:xfrm>
        </p:spPr>
        <p:txBody>
          <a:bodyPr>
            <a:normAutofit/>
          </a:bodyPr>
          <a:lstStyle/>
          <a:p>
            <a:pPr algn="ctr"/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ANTECEDENTES DE LA EMPRESA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1CA6C0-0F56-B8AA-FB3B-759ADA289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412" y="2565473"/>
            <a:ext cx="5042139" cy="28052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1491BEE-2AC1-E5B7-3CB1-6245006AE257}"/>
              </a:ext>
            </a:extLst>
          </p:cNvPr>
          <p:cNvSpPr txBox="1"/>
          <p:nvPr/>
        </p:nvSpPr>
        <p:spPr>
          <a:xfrm>
            <a:off x="1152832" y="1560306"/>
            <a:ext cx="4365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GuateResponde</a:t>
            </a:r>
            <a:r>
              <a:rPr lang="es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S.A.</a:t>
            </a:r>
            <a:endParaRPr lang="es-E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C320A5-696D-0D82-C345-F1B1130E2299}"/>
              </a:ext>
            </a:extLst>
          </p:cNvPr>
          <p:cNvSpPr txBox="1"/>
          <p:nvPr/>
        </p:nvSpPr>
        <p:spPr>
          <a:xfrm>
            <a:off x="493423" y="2574559"/>
            <a:ext cx="58575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" dirty="0"/>
              <a:t>Es un </a:t>
            </a:r>
            <a:r>
              <a:rPr lang="es-ES" b="1" dirty="0"/>
              <a:t>Centro de Atención Telefónica </a:t>
            </a:r>
            <a:r>
              <a:rPr lang="es-ES" dirty="0"/>
              <a:t>de alto volumen enfocado en el mercado de Guatemala.</a:t>
            </a:r>
            <a:br>
              <a:rPr lang="es-ES" dirty="0"/>
            </a:br>
            <a:endParaRPr lang="es-ES" dirty="0"/>
          </a:p>
          <a:p>
            <a:pPr marL="285750" indent="-285750">
              <a:buFontTx/>
              <a:buChar char="-"/>
            </a:pPr>
            <a:r>
              <a:rPr lang="es-ES" dirty="0"/>
              <a:t>Se especializa en manejar un gran flujo de llamadas de clientes que solicitan información general y soporte.</a:t>
            </a:r>
            <a:br>
              <a:rPr lang="es-ES" dirty="0"/>
            </a:br>
            <a:endParaRPr lang="es-ES" dirty="0"/>
          </a:p>
          <a:p>
            <a:pPr marL="285750" indent="-285750">
              <a:buFontTx/>
              <a:buChar char="-"/>
            </a:pPr>
            <a:r>
              <a:rPr lang="es-ES" sz="2000" b="1" dirty="0"/>
              <a:t>El Problema Operacional: </a:t>
            </a:r>
            <a:r>
              <a:rPr lang="es-ES" dirty="0"/>
              <a:t>El creciente volumen de llamadas está poniendo a prueba la capacidad actual de atención.</a:t>
            </a:r>
            <a:br>
              <a:rPr lang="es-ES" dirty="0"/>
            </a:br>
            <a:endParaRPr lang="es-ES" dirty="0"/>
          </a:p>
          <a:p>
            <a:pPr marL="285750" indent="-285750">
              <a:buFontTx/>
              <a:buChar char="-"/>
            </a:pPr>
            <a:r>
              <a:rPr lang="es-ES" sz="2000" b="1" dirty="0"/>
              <a:t>La Necesidad:</a:t>
            </a:r>
            <a:r>
              <a:rPr lang="es-ES" sz="2000" dirty="0"/>
              <a:t> </a:t>
            </a:r>
            <a:r>
              <a:rPr lang="es-ES" dirty="0"/>
              <a:t>Determinar la dotación óptima de agentes para reducir los tiempos de espera y mejorar la calidad del servicio.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062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45718-C40C-5CB2-C88F-A40913C3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87" y="509679"/>
            <a:ext cx="10515600" cy="1325563"/>
          </a:xfrm>
        </p:spPr>
        <p:txBody>
          <a:bodyPr/>
          <a:lstStyle/>
          <a:p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HERRAMIENTAS</a:t>
            </a:r>
            <a:r>
              <a:rPr lang="es-ES" dirty="0"/>
              <a:t>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T</a:t>
            </a:r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ÉCNICAS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B572A99-C84D-7AB1-A5DA-3283BC852EA9}"/>
              </a:ext>
            </a:extLst>
          </p:cNvPr>
          <p:cNvSpPr/>
          <p:nvPr/>
        </p:nvSpPr>
        <p:spPr>
          <a:xfrm>
            <a:off x="1032387" y="2389238"/>
            <a:ext cx="3116826" cy="3624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A05416-3BA5-6988-4100-83955625F495}"/>
              </a:ext>
            </a:extLst>
          </p:cNvPr>
          <p:cNvSpPr/>
          <p:nvPr/>
        </p:nvSpPr>
        <p:spPr>
          <a:xfrm>
            <a:off x="4537587" y="2389239"/>
            <a:ext cx="3116826" cy="36241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5D74A6-DA0D-1CCD-2B65-9F7A5E691ED8}"/>
              </a:ext>
            </a:extLst>
          </p:cNvPr>
          <p:cNvSpPr/>
          <p:nvPr/>
        </p:nvSpPr>
        <p:spPr>
          <a:xfrm>
            <a:off x="8236974" y="2389238"/>
            <a:ext cx="3116826" cy="36241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Gráfico 7" descr="Cerebro con relleno sólido">
            <a:extLst>
              <a:ext uri="{FF2B5EF4-FFF2-40B4-BE49-F238E27FC236}">
                <a16:creationId xmlns:a16="http://schemas.microsoft.com/office/drawing/2014/main" id="{E6325A0A-6D25-4163-49D6-97BCA54DF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3600" y="2389239"/>
            <a:ext cx="914400" cy="914400"/>
          </a:xfrm>
          <a:prstGeom prst="rect">
            <a:avLst/>
          </a:prstGeom>
        </p:spPr>
      </p:pic>
      <p:pic>
        <p:nvPicPr>
          <p:cNvPr id="10" name="Gráfico 9" descr="Grupo de hombres con relleno sólido">
            <a:extLst>
              <a:ext uri="{FF2B5EF4-FFF2-40B4-BE49-F238E27FC236}">
                <a16:creationId xmlns:a16="http://schemas.microsoft.com/office/drawing/2014/main" id="{E9859A33-3AA6-1364-C68C-2D783A215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389239"/>
            <a:ext cx="914400" cy="914400"/>
          </a:xfrm>
          <a:prstGeom prst="rect">
            <a:avLst/>
          </a:prstGeom>
        </p:spPr>
      </p:pic>
      <p:pic>
        <p:nvPicPr>
          <p:cNvPr id="12" name="Gráfico 11" descr="Red social contorno">
            <a:extLst>
              <a:ext uri="{FF2B5EF4-FFF2-40B4-BE49-F238E27FC236}">
                <a16:creationId xmlns:a16="http://schemas.microsoft.com/office/drawing/2014/main" id="{5D938094-DCBD-6078-19AB-FAA329D994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8187" y="2389239"/>
            <a:ext cx="914400" cy="9144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F17856E-3BE9-07B2-9B1C-BC2B92AD439E}"/>
              </a:ext>
            </a:extLst>
          </p:cNvPr>
          <p:cNvSpPr txBox="1"/>
          <p:nvPr/>
        </p:nvSpPr>
        <p:spPr>
          <a:xfrm>
            <a:off x="1882914" y="3244334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  <a:endParaRPr lang="es-E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18C7FF-0B0D-D350-55CA-F22D69010FC6}"/>
              </a:ext>
            </a:extLst>
          </p:cNvPr>
          <p:cNvSpPr txBox="1"/>
          <p:nvPr/>
        </p:nvSpPr>
        <p:spPr>
          <a:xfrm>
            <a:off x="8866254" y="3309178"/>
            <a:ext cx="185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Aplicado</a:t>
            </a:r>
            <a:endParaRPr lang="es-E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3DAB50-505B-777C-0952-89471E0EF25F}"/>
              </a:ext>
            </a:extLst>
          </p:cNvPr>
          <p:cNvSpPr txBox="1"/>
          <p:nvPr/>
        </p:nvSpPr>
        <p:spPr>
          <a:xfrm>
            <a:off x="5388114" y="3303639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Herramienta</a:t>
            </a:r>
            <a:endParaRPr lang="es-E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0BEADB7-4652-1E3C-4691-1BAFC0CBF196}"/>
              </a:ext>
            </a:extLst>
          </p:cNvPr>
          <p:cNvSpPr txBox="1"/>
          <p:nvPr/>
        </p:nvSpPr>
        <p:spPr>
          <a:xfrm>
            <a:off x="1199535" y="3982065"/>
            <a:ext cx="2949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utilizó la </a:t>
            </a:r>
            <a:r>
              <a:rPr lang="es-ES" b="1" dirty="0"/>
              <a:t>Investigación de Operaciones</a:t>
            </a:r>
            <a:r>
              <a:rPr lang="es-ES" dirty="0"/>
              <a:t> para abordar un problema de optimización de recursos y toma de decisiones.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86DB838-C7D8-A927-27D0-5B032C0060CF}"/>
              </a:ext>
            </a:extLst>
          </p:cNvPr>
          <p:cNvSpPr txBox="1"/>
          <p:nvPr/>
        </p:nvSpPr>
        <p:spPr>
          <a:xfrm>
            <a:off x="4646809" y="3982065"/>
            <a:ext cx="29496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seleccionó la </a:t>
            </a:r>
            <a:r>
              <a:rPr lang="es-ES" b="1" dirty="0"/>
              <a:t>Teoría de Colas</a:t>
            </a:r>
            <a:r>
              <a:rPr lang="es-ES" dirty="0"/>
              <a:t> (Líneas de Espera) por ser la herramienta idónea para analizar sistemas de servicio.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37CA67A-F146-8EE4-1515-19D4FE58D5BD}"/>
              </a:ext>
            </a:extLst>
          </p:cNvPr>
          <p:cNvSpPr txBox="1"/>
          <p:nvPr/>
        </p:nvSpPr>
        <p:spPr>
          <a:xfrm>
            <a:off x="8326693" y="3939289"/>
            <a:ext cx="29373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usó el modelo </a:t>
            </a:r>
            <a:r>
              <a:rPr lang="es-ES" b="1" dirty="0"/>
              <a:t>M/M/c</a:t>
            </a:r>
            <a:r>
              <a:rPr lang="es-ES" dirty="0"/>
              <a:t> (</a:t>
            </a:r>
            <a:r>
              <a:rPr lang="es-ES" dirty="0" err="1"/>
              <a:t>Markoviano</a:t>
            </a:r>
            <a:r>
              <a:rPr lang="es-ES" dirty="0"/>
              <a:t> de servidor múltiple) para modelar el sistema de llamadas con múltiples agentes.</a:t>
            </a:r>
          </a:p>
        </p:txBody>
      </p:sp>
    </p:spTree>
    <p:extLst>
      <p:ext uri="{BB962C8B-B14F-4D97-AF65-F5344CB8AC3E}">
        <p14:creationId xmlns:p14="http://schemas.microsoft.com/office/powerpoint/2010/main" val="157822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02BC5-3423-7410-890A-9D07B8B7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Situación Actual</a:t>
            </a:r>
            <a:endParaRPr lang="es-E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0B1E4B9-14AF-2721-9C51-76B2D1B6DC46}"/>
              </a:ext>
            </a:extLst>
          </p:cNvPr>
          <p:cNvSpPr/>
          <p:nvPr/>
        </p:nvSpPr>
        <p:spPr>
          <a:xfrm>
            <a:off x="4675239" y="2638399"/>
            <a:ext cx="2841522" cy="1278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B30C48-522B-7CE3-5C91-880F986C85BF}"/>
              </a:ext>
            </a:extLst>
          </p:cNvPr>
          <p:cNvSpPr txBox="1"/>
          <p:nvPr/>
        </p:nvSpPr>
        <p:spPr>
          <a:xfrm>
            <a:off x="3050935" y="4680155"/>
            <a:ext cx="59432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Análisis del sistema con la dotación actual: </a:t>
            </a:r>
            <a:r>
              <a:rPr lang="es-ES" b="1" dirty="0"/>
              <a:t>c = 3 agentes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985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C6C9C-50DF-1A55-64DA-31093F8B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221"/>
            <a:ext cx="10515600" cy="1325563"/>
          </a:xfrm>
        </p:spPr>
        <p:txBody>
          <a:bodyPr/>
          <a:lstStyle/>
          <a:p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Métricas Clave ( C = 3 Agentes)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97A2DF-B89F-0D2C-8BF2-E05F7D4138A0}"/>
              </a:ext>
            </a:extLst>
          </p:cNvPr>
          <p:cNvSpPr txBox="1"/>
          <p:nvPr/>
        </p:nvSpPr>
        <p:spPr>
          <a:xfrm>
            <a:off x="838200" y="2613392"/>
            <a:ext cx="33429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0" b="1" i="0" dirty="0">
                <a:solidFill>
                  <a:srgbClr val="E76F51"/>
                </a:solidFill>
                <a:effectLst/>
                <a:latin typeface="Urbanist"/>
              </a:rPr>
              <a:t>4.315</a:t>
            </a:r>
            <a:endParaRPr lang="es-ES" sz="10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50B128C-8669-C7C1-0C24-FCFD76C64E0D}"/>
              </a:ext>
            </a:extLst>
          </p:cNvPr>
          <p:cNvSpPr txBox="1"/>
          <p:nvPr/>
        </p:nvSpPr>
        <p:spPr>
          <a:xfrm>
            <a:off x="702939" y="4244608"/>
            <a:ext cx="3613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Minutos de Espera en Cola (</a:t>
            </a:r>
            <a:r>
              <a:rPr lang="es-ES" b="1" dirty="0" err="1"/>
              <a:t>Wq</a:t>
            </a:r>
            <a:r>
              <a:rPr lang="es-ES" b="1" dirty="0"/>
              <a:t>)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53DFD80-CFD8-0914-EE47-2BB21E8973A2}"/>
              </a:ext>
            </a:extLst>
          </p:cNvPr>
          <p:cNvSpPr txBox="1"/>
          <p:nvPr/>
        </p:nvSpPr>
        <p:spPr>
          <a:xfrm>
            <a:off x="5132439" y="2305616"/>
            <a:ext cx="668347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Diagnóstico del Problema</a:t>
            </a:r>
            <a:br>
              <a:rPr lang="es-ES" sz="3200" b="1" dirty="0"/>
            </a:br>
            <a:endParaRPr lang="es-ES" sz="3200" b="1" dirty="0"/>
          </a:p>
          <a:p>
            <a:r>
              <a:rPr lang="es-ES" dirty="0"/>
              <a:t>Con 3 agentes, la utilización del sistema es del 80%. Esto resulta en:</a:t>
            </a:r>
            <a:br>
              <a:rPr lang="es-ES" dirty="0"/>
            </a:br>
            <a:endParaRPr lang="es-ES" dirty="0"/>
          </a:p>
          <a:p>
            <a:r>
              <a:rPr lang="es-ES" dirty="0"/>
              <a:t>- Un tiempo promedio de espera de </a:t>
            </a:r>
            <a:r>
              <a:rPr lang="es-ES" b="1" dirty="0"/>
              <a:t>4.315 minutos</a:t>
            </a:r>
            <a:r>
              <a:rPr lang="es-ES" dirty="0"/>
              <a:t>.</a:t>
            </a:r>
          </a:p>
          <a:p>
            <a:r>
              <a:rPr lang="es-ES" dirty="0"/>
              <a:t>- Esto excede la meta de calidad de servicio (2 minutos) en más de un 100%.</a:t>
            </a:r>
          </a:p>
          <a:p>
            <a:r>
              <a:rPr lang="es-ES" dirty="0"/>
              <a:t>- Un </a:t>
            </a:r>
            <a:r>
              <a:rPr lang="es-ES" b="1" dirty="0"/>
              <a:t>64.72%</a:t>
            </a:r>
            <a:r>
              <a:rPr lang="es-ES" dirty="0"/>
              <a:t> de los clientes que llaman deben esperar en cola.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8470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745CB6F-AB82-BB2D-359E-D814067F74A3}"/>
              </a:ext>
            </a:extLst>
          </p:cNvPr>
          <p:cNvSpPr txBox="1">
            <a:spLocks/>
          </p:cNvSpPr>
          <p:nvPr/>
        </p:nvSpPr>
        <p:spPr>
          <a:xfrm>
            <a:off x="838200" y="2766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Implementando Solución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C1DBD29-B6A3-8B7E-FF47-A5711BC8B8F7}"/>
              </a:ext>
            </a:extLst>
          </p:cNvPr>
          <p:cNvSpPr/>
          <p:nvPr/>
        </p:nvSpPr>
        <p:spPr>
          <a:xfrm>
            <a:off x="4675239" y="2638399"/>
            <a:ext cx="2841522" cy="1278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BDD5DC-3E1A-000F-F888-732A9D965406}"/>
              </a:ext>
            </a:extLst>
          </p:cNvPr>
          <p:cNvSpPr txBox="1"/>
          <p:nvPr/>
        </p:nvSpPr>
        <p:spPr>
          <a:xfrm>
            <a:off x="2425764" y="4562168"/>
            <a:ext cx="7340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Análisis de sensibilidad: ¿Qué sucede si aumentamos a </a:t>
            </a:r>
            <a:r>
              <a:rPr lang="es-ES" b="1" dirty="0"/>
              <a:t>c = 4 agentes</a:t>
            </a:r>
            <a:r>
              <a:rPr lang="es-ES" dirty="0"/>
              <a:t>?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7831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98F4E0D-2C93-FD1C-657B-DE8439E51EFA}"/>
              </a:ext>
            </a:extLst>
          </p:cNvPr>
          <p:cNvSpPr txBox="1">
            <a:spLocks/>
          </p:cNvSpPr>
          <p:nvPr/>
        </p:nvSpPr>
        <p:spPr>
          <a:xfrm>
            <a:off x="838200" y="4722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Nuevas Métricas ( C = 4 Agentes)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795B29-2149-D627-CEFC-6B685D972597}"/>
              </a:ext>
            </a:extLst>
          </p:cNvPr>
          <p:cNvSpPr txBox="1"/>
          <p:nvPr/>
        </p:nvSpPr>
        <p:spPr>
          <a:xfrm>
            <a:off x="963562" y="2613392"/>
            <a:ext cx="31364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0" b="1" i="0" dirty="0">
                <a:solidFill>
                  <a:srgbClr val="2A9D8F"/>
                </a:solidFill>
                <a:effectLst/>
                <a:latin typeface="Urbanist"/>
              </a:rPr>
              <a:t>0.717</a:t>
            </a:r>
            <a:endParaRPr lang="es-ES" sz="10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D4E3E3-81B9-FEBE-F92D-09557954C967}"/>
              </a:ext>
            </a:extLst>
          </p:cNvPr>
          <p:cNvSpPr txBox="1"/>
          <p:nvPr/>
        </p:nvSpPr>
        <p:spPr>
          <a:xfrm>
            <a:off x="786778" y="4244608"/>
            <a:ext cx="349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Minutos de Espera en Cola (</a:t>
            </a:r>
            <a:r>
              <a:rPr lang="es-ES" b="1" dirty="0" err="1"/>
              <a:t>Wq</a:t>
            </a:r>
            <a:r>
              <a:rPr lang="es-ES" b="1" dirty="0"/>
              <a:t>)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F90A11-F767-15C2-884E-91A305CB0CC4}"/>
              </a:ext>
            </a:extLst>
          </p:cNvPr>
          <p:cNvSpPr txBox="1"/>
          <p:nvPr/>
        </p:nvSpPr>
        <p:spPr>
          <a:xfrm>
            <a:off x="5132439" y="2305616"/>
            <a:ext cx="668347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Impacto de la Solución</a:t>
            </a:r>
          </a:p>
          <a:p>
            <a:endParaRPr lang="es-ES" sz="3200" b="1" dirty="0"/>
          </a:p>
          <a:p>
            <a:r>
              <a:rPr lang="es-ES" dirty="0"/>
              <a:t>Al agregar un agente, la utilización del sistema baja al 60%. El impacto es inmediato:</a:t>
            </a:r>
            <a:br>
              <a:rPr lang="es-ES" dirty="0"/>
            </a:br>
            <a:endParaRPr lang="es-ES" dirty="0"/>
          </a:p>
          <a:p>
            <a:r>
              <a:rPr lang="es-ES" dirty="0"/>
              <a:t>- El tiempo de espera promedio cae a </a:t>
            </a:r>
            <a:r>
              <a:rPr lang="es-ES" b="1" dirty="0"/>
              <a:t>0.717 minutos</a:t>
            </a:r>
            <a:r>
              <a:rPr lang="es-ES" dirty="0"/>
              <a:t>.</a:t>
            </a:r>
          </a:p>
          <a:p>
            <a:r>
              <a:rPr lang="es-ES" b="1" dirty="0"/>
              <a:t>- ¡Meta Cumplida!</a:t>
            </a:r>
            <a:r>
              <a:rPr lang="es-ES" dirty="0"/>
              <a:t> Se reduce el tiempo en un 83% y se cumple el objetivo de &lt; 2 minutos.</a:t>
            </a:r>
          </a:p>
          <a:p>
            <a:r>
              <a:rPr lang="es-ES" dirty="0"/>
              <a:t>- La probabilidad de esperar baja a </a:t>
            </a:r>
            <a:r>
              <a:rPr lang="es-ES" b="1" dirty="0"/>
              <a:t>28.69%</a:t>
            </a:r>
            <a:r>
              <a:rPr 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20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E517E-5028-FB9D-323B-542FD6A5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Comparativa: Actual vs. Solución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6FC3DB-AB39-0223-3FBB-EA16DDC44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346458"/>
            <a:ext cx="8056880" cy="4627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DC86A8F-92C3-7475-5E35-3962A5F1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164199"/>
            <a:ext cx="8056880" cy="45847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C9A0919-CA5F-0FE4-C18F-56F345340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977636"/>
            <a:ext cx="8056880" cy="47426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C22E2B0-4B70-508C-4304-01098D9999B6}"/>
              </a:ext>
            </a:extLst>
          </p:cNvPr>
          <p:cNvSpPr txBox="1"/>
          <p:nvPr/>
        </p:nvSpPr>
        <p:spPr>
          <a:xfrm>
            <a:off x="685808" y="2347575"/>
            <a:ext cx="29209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Modelo Actual (3 Agentes)</a:t>
            </a:r>
          </a:p>
          <a:p>
            <a:pPr algn="ctr"/>
            <a:br>
              <a:rPr lang="es-ES" dirty="0"/>
            </a:b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C4257B7-6DC5-3034-D86C-245009840668}"/>
              </a:ext>
            </a:extLst>
          </p:cNvPr>
          <p:cNvSpPr txBox="1"/>
          <p:nvPr/>
        </p:nvSpPr>
        <p:spPr>
          <a:xfrm>
            <a:off x="970868" y="3164199"/>
            <a:ext cx="20922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Meta del Proyecto</a:t>
            </a:r>
          </a:p>
          <a:p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6FF14E4-1699-7820-B891-9BDC13587010}"/>
              </a:ext>
            </a:extLst>
          </p:cNvPr>
          <p:cNvSpPr txBox="1"/>
          <p:nvPr/>
        </p:nvSpPr>
        <p:spPr>
          <a:xfrm>
            <a:off x="970868" y="3942072"/>
            <a:ext cx="2350872" cy="1488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Solución Propuesta (4 Agentes)</a:t>
            </a:r>
          </a:p>
          <a:p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B1141DA-FC11-80D9-4071-5B6EE8677561}"/>
              </a:ext>
            </a:extLst>
          </p:cNvPr>
          <p:cNvSpPr txBox="1"/>
          <p:nvPr/>
        </p:nvSpPr>
        <p:spPr>
          <a:xfrm>
            <a:off x="1935480" y="5107351"/>
            <a:ext cx="8321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/>
              <a:t>La solución de 4 agentes no solo cumple la meta, sino que la supera ampliamente, demostrando la alta sensibilidad del sistema a la dotación de personal.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292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0F111-5CC7-018B-C1E7-B9C4762AD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58473"/>
            <a:ext cx="10515600" cy="1325563"/>
          </a:xfrm>
        </p:spPr>
        <p:txBody>
          <a:bodyPr/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Recomendaciones y Oportunidades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áfico 4" descr="Usuario con relleno sólido">
            <a:extLst>
              <a:ext uri="{FF2B5EF4-FFF2-40B4-BE49-F238E27FC236}">
                <a16:creationId xmlns:a16="http://schemas.microsoft.com/office/drawing/2014/main" id="{4F713F58-B8D2-4E5C-3360-5FCAB70A4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0400" y="2361248"/>
            <a:ext cx="721360" cy="721360"/>
          </a:xfrm>
          <a:prstGeom prst="rect">
            <a:avLst/>
          </a:prstGeom>
        </p:spPr>
      </p:pic>
      <p:pic>
        <p:nvPicPr>
          <p:cNvPr id="7" name="Gráfico 6" descr="Gráfico exponencial con relleno sólido">
            <a:extLst>
              <a:ext uri="{FF2B5EF4-FFF2-40B4-BE49-F238E27FC236}">
                <a16:creationId xmlns:a16="http://schemas.microsoft.com/office/drawing/2014/main" id="{FED21834-4650-A0C8-10D0-732D47D0B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0400" y="3753168"/>
            <a:ext cx="721360" cy="721360"/>
          </a:xfrm>
          <a:prstGeom prst="rect">
            <a:avLst/>
          </a:prstGeom>
        </p:spPr>
      </p:pic>
      <p:pic>
        <p:nvPicPr>
          <p:cNvPr id="9" name="Gráfico 8" descr="Futuro con relleno sólido">
            <a:extLst>
              <a:ext uri="{FF2B5EF4-FFF2-40B4-BE49-F238E27FC236}">
                <a16:creationId xmlns:a16="http://schemas.microsoft.com/office/drawing/2014/main" id="{A48CA61A-36A3-77B7-BF27-A807D1E9A6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2000" y="5182552"/>
            <a:ext cx="619760" cy="61976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5D99AE2-7035-5F23-E658-5EB6D4D9E592}"/>
              </a:ext>
            </a:extLst>
          </p:cNvPr>
          <p:cNvSpPr txBox="1"/>
          <p:nvPr/>
        </p:nvSpPr>
        <p:spPr>
          <a:xfrm>
            <a:off x="2936240" y="2267188"/>
            <a:ext cx="7929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Recomendación Principal (Factor c):</a:t>
            </a:r>
            <a:r>
              <a:rPr lang="es-ES" dirty="0"/>
              <a:t> Implementar la contratación e integración de </a:t>
            </a:r>
            <a:r>
              <a:rPr lang="es-ES" b="1" dirty="0"/>
              <a:t>un agente adicional</a:t>
            </a:r>
            <a:r>
              <a:rPr lang="es-ES" dirty="0"/>
              <a:t> para operar con una dotación total de 4 agentes.</a:t>
            </a:r>
          </a:p>
          <a:p>
            <a:br>
              <a:rPr lang="es-ES" dirty="0"/>
            </a:br>
            <a:endParaRPr lang="es-ES" b="1" dirty="0"/>
          </a:p>
          <a:p>
            <a:r>
              <a:rPr lang="es-ES" b="1" dirty="0"/>
              <a:t>Mejora de Eficiencia :</a:t>
            </a:r>
            <a:r>
              <a:rPr lang="es-ES" dirty="0"/>
              <a:t> Invertir en capacitación y mejores herramientas de software para aumentar la tasa de servicio (atender llamadas más rápido).</a:t>
            </a:r>
            <a:endParaRPr lang="es-ES" b="1" dirty="0"/>
          </a:p>
          <a:p>
            <a:br>
              <a:rPr lang="es-ES" b="1" dirty="0"/>
            </a:br>
            <a:br>
              <a:rPr lang="es-ES" b="1" dirty="0"/>
            </a:br>
            <a:endParaRPr lang="es-ES" b="1" dirty="0"/>
          </a:p>
          <a:p>
            <a:r>
              <a:rPr lang="es-ES" b="1" dirty="0"/>
              <a:t>Gestión de Demanda :</a:t>
            </a:r>
            <a:r>
              <a:rPr lang="es-ES" dirty="0"/>
              <a:t> Promover canales de autoservicio (IVR, </a:t>
            </a:r>
            <a:r>
              <a:rPr lang="es-ES" dirty="0" err="1"/>
              <a:t>chatbots</a:t>
            </a:r>
            <a:r>
              <a:rPr lang="es-ES" dirty="0"/>
              <a:t>) para reducir la tasa de llegada de llamadas simples al sistema humano.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321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68391-22BA-57C1-FC7B-C7DA49C6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20" y="369222"/>
            <a:ext cx="10515600" cy="1325563"/>
          </a:xfrm>
        </p:spPr>
        <p:txBody>
          <a:bodyPr/>
          <a:lstStyle/>
          <a:p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Beneficios Económicos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F431DEF-DB4D-CF90-4611-569BCC89D67C}"/>
              </a:ext>
            </a:extLst>
          </p:cNvPr>
          <p:cNvSpPr/>
          <p:nvPr/>
        </p:nvSpPr>
        <p:spPr>
          <a:xfrm>
            <a:off x="1692786" y="2132677"/>
            <a:ext cx="4179694" cy="37778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80E03B-9D2F-FE30-68F9-DC26FD6D006F}"/>
              </a:ext>
            </a:extLst>
          </p:cNvPr>
          <p:cNvSpPr/>
          <p:nvPr/>
        </p:nvSpPr>
        <p:spPr>
          <a:xfrm>
            <a:off x="6760334" y="2132677"/>
            <a:ext cx="4179694" cy="37778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17600C-ECD4-545E-C558-CC3598A78F3E}"/>
              </a:ext>
            </a:extLst>
          </p:cNvPr>
          <p:cNvSpPr txBox="1"/>
          <p:nvPr/>
        </p:nvSpPr>
        <p:spPr>
          <a:xfrm>
            <a:off x="1780129" y="2313458"/>
            <a:ext cx="40050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Costo de 3 Agentes (Actual)</a:t>
            </a:r>
          </a:p>
          <a:p>
            <a:endParaRPr lang="es-ES" b="1" dirty="0"/>
          </a:p>
          <a:p>
            <a:r>
              <a:rPr lang="es-ES" dirty="0"/>
              <a:t>El costo de un sueldo (3x) se ve opacado por un alto costo oculto:</a:t>
            </a:r>
          </a:p>
          <a:p>
            <a:endParaRPr lang="es-ES" dirty="0"/>
          </a:p>
          <a:p>
            <a:r>
              <a:rPr lang="es-ES" dirty="0"/>
              <a:t>- Alta insatisfacción del cliente.</a:t>
            </a:r>
          </a:p>
          <a:p>
            <a:r>
              <a:rPr lang="es-ES" dirty="0"/>
              <a:t>- Pérdida de clientes (abandono) por esperas de 4.3 minutos.</a:t>
            </a:r>
          </a:p>
          <a:p>
            <a:r>
              <a:rPr lang="es-ES" dirty="0"/>
              <a:t>- Mala reputación de la marca.</a:t>
            </a:r>
          </a:p>
          <a:p>
            <a:r>
              <a:rPr lang="es-ES" dirty="0"/>
              <a:t>- Agentes estresados (utilización del 80%).</a:t>
            </a:r>
          </a:p>
          <a:p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0CC4CC-A49C-4C27-39CB-0CAFCB726808}"/>
              </a:ext>
            </a:extLst>
          </p:cNvPr>
          <p:cNvSpPr txBox="1"/>
          <p:nvPr/>
        </p:nvSpPr>
        <p:spPr>
          <a:xfrm>
            <a:off x="6796877" y="2132677"/>
            <a:ext cx="41066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Beneficio de 4 Agentes (Propuesta)</a:t>
            </a:r>
          </a:p>
          <a:p>
            <a:endParaRPr lang="es-ES" b="1" dirty="0"/>
          </a:p>
          <a:p>
            <a:r>
              <a:rPr lang="es-ES" dirty="0"/>
              <a:t>El costo adicional de un sueldo (4x) se justifica por un claro Retorno de Inversión (ROI):</a:t>
            </a:r>
          </a:p>
          <a:p>
            <a:endParaRPr lang="es-ES" dirty="0"/>
          </a:p>
          <a:p>
            <a:r>
              <a:rPr lang="es-ES" dirty="0"/>
              <a:t>- Aumento drástico en la </a:t>
            </a:r>
            <a:r>
              <a:rPr lang="es-ES" b="1" dirty="0"/>
              <a:t>satisfacción y retención</a:t>
            </a:r>
            <a:r>
              <a:rPr lang="es-ES" dirty="0"/>
              <a:t> de clientes.</a:t>
            </a:r>
          </a:p>
          <a:p>
            <a:r>
              <a:rPr lang="es-ES" dirty="0"/>
              <a:t>- Reducción de la tasa de abandono (espera &lt; 1 min).</a:t>
            </a:r>
          </a:p>
          <a:p>
            <a:r>
              <a:rPr lang="es-ES" dirty="0"/>
              <a:t>- Mejora en la reputación y calidad del servicio.</a:t>
            </a:r>
          </a:p>
          <a:p>
            <a:r>
              <a:rPr lang="es-ES" dirty="0"/>
              <a:t>- Sistema con utilización del 60%.</a:t>
            </a:r>
          </a:p>
        </p:txBody>
      </p:sp>
    </p:spTree>
    <p:extLst>
      <p:ext uri="{BB962C8B-B14F-4D97-AF65-F5344CB8AC3E}">
        <p14:creationId xmlns:p14="http://schemas.microsoft.com/office/powerpoint/2010/main" val="178420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EA8D4-7CCC-50E7-A52D-932D910D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92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MUCHAS GRACIAS</a:t>
            </a:r>
            <a:endParaRPr lang="es-E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1F336F0-B25A-1910-202A-E9AE45148548}"/>
              </a:ext>
            </a:extLst>
          </p:cNvPr>
          <p:cNvSpPr txBox="1"/>
          <p:nvPr/>
        </p:nvSpPr>
        <p:spPr>
          <a:xfrm>
            <a:off x="2626254" y="3891280"/>
            <a:ext cx="7244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Conclusión: La dotación óptima para </a:t>
            </a:r>
            <a:r>
              <a:rPr lang="es-ES" dirty="0" err="1"/>
              <a:t>GuateResponde</a:t>
            </a:r>
            <a:r>
              <a:rPr lang="es-ES" dirty="0"/>
              <a:t> es de 4 agentes.</a:t>
            </a:r>
          </a:p>
        </p:txBody>
      </p:sp>
    </p:spTree>
    <p:extLst>
      <p:ext uri="{BB962C8B-B14F-4D97-AF65-F5344CB8AC3E}">
        <p14:creationId xmlns:p14="http://schemas.microsoft.com/office/powerpoint/2010/main" val="231044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725</Words>
  <Application>Microsoft Office PowerPoint</Application>
  <PresentationFormat>Panorámica</PresentationFormat>
  <Paragraphs>80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Urbanist</vt:lpstr>
      <vt:lpstr>Office Theme</vt:lpstr>
      <vt:lpstr>Presentación de PowerPoint</vt:lpstr>
      <vt:lpstr>INTEGRANTES DEL EQUIPO</vt:lpstr>
      <vt:lpstr>ANTECEDENTES DE LA EMPRESA</vt:lpstr>
      <vt:lpstr>HERRAMIENTAS Y TÉCNICAS</vt:lpstr>
      <vt:lpstr>Modelo de Situación Actual</vt:lpstr>
      <vt:lpstr>Métricas Clave ( C = 3 Agentes)</vt:lpstr>
      <vt:lpstr>Presentación de PowerPoint</vt:lpstr>
      <vt:lpstr>Presentación de PowerPoint</vt:lpstr>
      <vt:lpstr>Comparativa: Actual vs. Solución</vt:lpstr>
      <vt:lpstr>Recomendaciones y Oportunidades</vt:lpstr>
      <vt:lpstr>Beneficios Económicos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231575 - JEVER JAFET GOMEZ SOLIS</dc:creator>
  <cp:lastModifiedBy>231575 - JEVER JAFET GOMEZ SOLIS</cp:lastModifiedBy>
  <cp:revision>3</cp:revision>
  <dcterms:created xsi:type="dcterms:W3CDTF">2025-11-12T03:25:40Z</dcterms:created>
  <dcterms:modified xsi:type="dcterms:W3CDTF">2025-11-13T04:58:30Z</dcterms:modified>
</cp:coreProperties>
</file>